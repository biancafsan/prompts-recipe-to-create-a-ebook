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9" r:id="rId4"/>
    <p:sldId id="258" r:id="rId5"/>
    <p:sldId id="261" r:id="rId6"/>
    <p:sldId id="264" r:id="rId7"/>
    <p:sldId id="262" r:id="rId8"/>
    <p:sldId id="263" r:id="rId9"/>
    <p:sldId id="265" r:id="rId10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AF9E"/>
    <a:srgbClr val="EFCFBA"/>
    <a:srgbClr val="C2AB9B"/>
    <a:srgbClr val="C7B1A3"/>
    <a:srgbClr val="BAA698"/>
    <a:srgbClr val="B29E8E"/>
    <a:srgbClr val="F1CFB8"/>
    <a:srgbClr val="F5D4BB"/>
    <a:srgbClr val="AF9B8C"/>
    <a:srgbClr val="E9CA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41" d="100"/>
          <a:sy n="41" d="100"/>
        </p:scale>
        <p:origin x="1404" y="-570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C4F4-60AD-4F7B-BEF9-C0C3859D73CC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ECF3-E487-4914-92AF-9EC3D59C61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0772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C4F4-60AD-4F7B-BEF9-C0C3859D73CC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ECF3-E487-4914-92AF-9EC3D59C61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9072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C4F4-60AD-4F7B-BEF9-C0C3859D73CC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ECF3-E487-4914-92AF-9EC3D59C61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282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C4F4-60AD-4F7B-BEF9-C0C3859D73CC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ECF3-E487-4914-92AF-9EC3D59C61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057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C4F4-60AD-4F7B-BEF9-C0C3859D73CC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ECF3-E487-4914-92AF-9EC3D59C61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8347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C4F4-60AD-4F7B-BEF9-C0C3859D73CC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ECF3-E487-4914-92AF-9EC3D59C61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276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C4F4-60AD-4F7B-BEF9-C0C3859D73CC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ECF3-E487-4914-92AF-9EC3D59C61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172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C4F4-60AD-4F7B-BEF9-C0C3859D73CC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ECF3-E487-4914-92AF-9EC3D59C61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619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C4F4-60AD-4F7B-BEF9-C0C3859D73CC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ECF3-E487-4914-92AF-9EC3D59C61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6720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C4F4-60AD-4F7B-BEF9-C0C3859D73CC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ECF3-E487-4914-92AF-9EC3D59C61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699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AC4F4-60AD-4F7B-BEF9-C0C3859D73CC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9ECF3-E487-4914-92AF-9EC3D59C61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82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AC4F4-60AD-4F7B-BEF9-C0C3859D73CC}" type="datetimeFigureOut">
              <a:rPr lang="pt-BR" smtClean="0"/>
              <a:t>02/05/2025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9ECF3-E487-4914-92AF-9EC3D59C61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948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93BE-1471-140B-1E90-4A43303E7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0557D1B-7B5F-F384-A237-CF25F9441C94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C7AF9E"/>
          </a:solidFill>
          <a:ln>
            <a:solidFill>
              <a:srgbClr val="E9CAB2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Senhor dos Estilos: A Sociedade do CSS</a:t>
            </a:r>
            <a:endParaRPr lang="pt-BR" dirty="0"/>
          </a:p>
        </p:txBody>
      </p:sp>
      <p:pic>
        <p:nvPicPr>
          <p:cNvPr id="5" name="Imagem 4" descr="Caixa de jogo de vídeo game&#10;&#10;O conteúdo gerado por IA pode estar incorreto.">
            <a:extLst>
              <a:ext uri="{FF2B5EF4-FFF2-40B4-BE49-F238E27FC236}">
                <a16:creationId xmlns:a16="http://schemas.microsoft.com/office/drawing/2014/main" id="{F96DA572-5311-5A5D-76B2-B03E14052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95604"/>
            <a:ext cx="9601200" cy="713935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4" name="Imagem 3" descr="Logotipo, Ícone&#10;&#10;O conteúdo gerado por IA pode estar incorreto.">
            <a:extLst>
              <a:ext uri="{FF2B5EF4-FFF2-40B4-BE49-F238E27FC236}">
                <a16:creationId xmlns:a16="http://schemas.microsoft.com/office/drawing/2014/main" id="{91670F5C-21F6-ACD3-DC66-74E4480517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93" t="22227" r="1493" b="4478"/>
          <a:stretch/>
        </p:blipFill>
        <p:spPr>
          <a:xfrm>
            <a:off x="3561683" y="9605996"/>
            <a:ext cx="2145324" cy="1371600"/>
          </a:xfrm>
          <a:prstGeom prst="rect">
            <a:avLst/>
          </a:prstGeom>
        </p:spPr>
      </p:pic>
      <p:pic>
        <p:nvPicPr>
          <p:cNvPr id="6" name="Imagem 5" descr="Logotipo, Ícone&#10;&#10;O conteúdo gerado por IA pode estar incorreto.">
            <a:extLst>
              <a:ext uri="{FF2B5EF4-FFF2-40B4-BE49-F238E27FC236}">
                <a16:creationId xmlns:a16="http://schemas.microsoft.com/office/drawing/2014/main" id="{F72E732A-21A6-FA0B-D4CF-8AE0B601A0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8261"/>
          <a:stretch/>
        </p:blipFill>
        <p:spPr>
          <a:xfrm>
            <a:off x="0" y="-435079"/>
            <a:ext cx="9268691" cy="2696841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411480F7-45BD-02C2-E07E-F5ED2BB20F73}"/>
              </a:ext>
            </a:extLst>
          </p:cNvPr>
          <p:cNvSpPr/>
          <p:nvPr/>
        </p:nvSpPr>
        <p:spPr>
          <a:xfrm>
            <a:off x="-48793" y="2179941"/>
            <a:ext cx="915122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Impact" panose="020B0806030902050204" pitchFamily="34" charset="0"/>
              </a:rPr>
              <a:t>O Senhor dos Estilos: A Sociedade do CSS</a:t>
            </a:r>
            <a:endParaRPr lang="pt-BR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2BED217-CDC0-0236-3C7E-FFD29456C116}"/>
              </a:ext>
            </a:extLst>
          </p:cNvPr>
          <p:cNvSpPr txBox="1"/>
          <p:nvPr/>
        </p:nvSpPr>
        <p:spPr>
          <a:xfrm>
            <a:off x="2733367" y="11474099"/>
            <a:ext cx="41344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latin typeface="Impact" panose="020B0806030902050204" pitchFamily="34" charset="0"/>
              </a:rPr>
              <a:t>Bianca Santana</a:t>
            </a:r>
          </a:p>
        </p:txBody>
      </p:sp>
    </p:spTree>
    <p:extLst>
      <p:ext uri="{BB962C8B-B14F-4D97-AF65-F5344CB8AC3E}">
        <p14:creationId xmlns:p14="http://schemas.microsoft.com/office/powerpoint/2010/main" val="4201120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674B0CFB-9930-A2D2-2F6E-2F3F603B894A}"/>
              </a:ext>
            </a:extLst>
          </p:cNvPr>
          <p:cNvSpPr/>
          <p:nvPr/>
        </p:nvSpPr>
        <p:spPr>
          <a:xfrm>
            <a:off x="0" y="0"/>
            <a:ext cx="9601200" cy="13118123"/>
          </a:xfrm>
          <a:prstGeom prst="rect">
            <a:avLst/>
          </a:prstGeom>
          <a:solidFill>
            <a:srgbClr val="0F08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/>
              <a:t>Neste capítulo, você vai entender como usar os principais seletores do CSS para aplicar estilos com clareza e precisão. Cada seletor será explicado com contexto real, para que você saiba quando, como e por que usá-lo.</a:t>
            </a:r>
          </a:p>
          <a:p>
            <a:pPr algn="ctr"/>
            <a:endParaRPr lang="pt-BR" dirty="0"/>
          </a:p>
        </p:txBody>
      </p:sp>
      <p:pic>
        <p:nvPicPr>
          <p:cNvPr id="5" name="Imagem 4" descr="Caixa de jogo de vídeo game&#10;&#10;O conteúdo gerado por IA pode estar incorreto.">
            <a:extLst>
              <a:ext uri="{FF2B5EF4-FFF2-40B4-BE49-F238E27FC236}">
                <a16:creationId xmlns:a16="http://schemas.microsoft.com/office/drawing/2014/main" id="{A3647F93-9942-E222-8E3D-1B2D0287D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01200" cy="784273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8098741-C003-EB77-2A5D-9D9EFD2E614C}"/>
              </a:ext>
            </a:extLst>
          </p:cNvPr>
          <p:cNvSpPr txBox="1"/>
          <p:nvPr/>
        </p:nvSpPr>
        <p:spPr>
          <a:xfrm>
            <a:off x="885651" y="8815754"/>
            <a:ext cx="8310541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Neste capítulo, você vai entender como usar os principais seletores do CSS para aplicar estilos com clareza e precisão. Cada seletor será explicado com contexto real, para que você saiba quando, como e por que usá-lo.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8617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F90B9-FAF9-399E-F8AB-C147503F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40590-9F34-7D03-B863-4D21F2173FA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601200" cy="128016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pt-BR" sz="66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EFCFBA"/>
                </a:highligh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SELETORES </a:t>
            </a:r>
            <a:r>
              <a:rPr lang="pt-BR" sz="66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EFCFBA"/>
                </a:highlight>
                <a:latin typeface="Impact" panose="020B0806030902050204" pitchFamily="34" charset="0"/>
              </a:rPr>
              <a:t>DE ELEMENTO</a:t>
            </a:r>
            <a:r>
              <a:rPr kumimoji="0" lang="pt-BR" sz="66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EFCFBA"/>
                </a:highligh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</a:t>
            </a:r>
            <a:br>
              <a:rPr kumimoji="0" lang="pt-BR" sz="66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EFCFBA"/>
                </a:highligh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</a:br>
            <a:r>
              <a:rPr kumimoji="0" lang="pt-BR" sz="66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EFCFBA"/>
                </a:highligh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Estilizando </a:t>
            </a:r>
            <a:r>
              <a:rPr kumimoji="0" lang="pt-BR" sz="6600" b="0" i="0" u="none" strike="noStrike" kern="1200" cap="none" spc="0" normalizeH="0" baseline="0" noProof="0" dirty="0" err="1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EFCFBA"/>
                </a:highligh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tags</a:t>
            </a:r>
            <a:r>
              <a:rPr kumimoji="0" lang="pt-BR" sz="66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EFCFBA"/>
                </a:highligh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C66582-3036-DE2D-9795-908DBEA230B1}"/>
              </a:ext>
            </a:extLst>
          </p:cNvPr>
          <p:cNvSpPr txBox="1"/>
          <p:nvPr/>
        </p:nvSpPr>
        <p:spPr>
          <a:xfrm>
            <a:off x="1383404" y="-418703"/>
            <a:ext cx="6548022" cy="1289583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40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Impact" panose="020B0806030902050204" pitchFamily="34" charset="0"/>
              </a:rPr>
              <a:t>01</a:t>
            </a:r>
          </a:p>
          <a:p>
            <a:pPr algn="ctr"/>
            <a:endParaRPr lang="pt-BR" sz="41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BA5A0C-B383-76EB-1FD8-1ECE7909503F}"/>
              </a:ext>
            </a:extLst>
          </p:cNvPr>
          <p:cNvSpPr txBox="1"/>
          <p:nvPr/>
        </p:nvSpPr>
        <p:spPr>
          <a:xfrm>
            <a:off x="1669774" y="862716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</a:t>
            </a:r>
          </a:p>
        </p:txBody>
      </p:sp>
    </p:spTree>
    <p:extLst>
      <p:ext uri="{BB962C8B-B14F-4D97-AF65-F5344CB8AC3E}">
        <p14:creationId xmlns:p14="http://schemas.microsoft.com/office/powerpoint/2010/main" val="1100749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A89915C-C48B-5702-8F97-8D4E681D0481}"/>
              </a:ext>
            </a:extLst>
          </p:cNvPr>
          <p:cNvSpPr txBox="1"/>
          <p:nvPr/>
        </p:nvSpPr>
        <p:spPr>
          <a:xfrm>
            <a:off x="2690527" y="782622"/>
            <a:ext cx="8627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Seletor de Elemento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3975F10-FF62-3B9C-42EE-C36A69C29535}"/>
              </a:ext>
            </a:extLst>
          </p:cNvPr>
          <p:cNvSpPr txBox="1"/>
          <p:nvPr/>
        </p:nvSpPr>
        <p:spPr>
          <a:xfrm>
            <a:off x="2196808" y="1691169"/>
            <a:ext cx="6577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Aptos Narrow" panose="020B0004020202020204" pitchFamily="34" charset="0"/>
              </a:rPr>
              <a:t>   Estilizando </a:t>
            </a:r>
            <a:r>
              <a:rPr lang="pt-BR" sz="3200" dirty="0" err="1">
                <a:latin typeface="Aptos Narrow" panose="020B0004020202020204" pitchFamily="34" charset="0"/>
              </a:rPr>
              <a:t>tags</a:t>
            </a:r>
            <a:r>
              <a:rPr lang="pt-BR" sz="3200" dirty="0">
                <a:latin typeface="Aptos Narrow" panose="020B0004020202020204" pitchFamily="34" charset="0"/>
              </a:rPr>
              <a:t> diretamente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B2D9871-6E5D-F8BE-0A02-69FBABBD3419}"/>
              </a:ext>
            </a:extLst>
          </p:cNvPr>
          <p:cNvSpPr txBox="1"/>
          <p:nvPr/>
        </p:nvSpPr>
        <p:spPr>
          <a:xfrm>
            <a:off x="973394" y="2884156"/>
            <a:ext cx="86278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seletor de elemento aplica estilos a todas as ocorrências de uma determinada </a:t>
            </a:r>
            <a:r>
              <a:rPr lang="pt-BR" sz="2400" dirty="0" err="1"/>
              <a:t>tag</a:t>
            </a:r>
            <a:r>
              <a:rPr lang="pt-BR" sz="2400" dirty="0"/>
              <a:t> HTML. Ele é útil quando você quer uma aparência padrão para certos tipos de conteúdo, como parágrafos ou títulos.</a:t>
            </a:r>
          </a:p>
          <a:p>
            <a:endParaRPr lang="pt-BR" sz="2400" dirty="0"/>
          </a:p>
        </p:txBody>
      </p:sp>
      <p:pic>
        <p:nvPicPr>
          <p:cNvPr id="12" name="Imagem 11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8C4B480A-E8EB-EEBD-5B21-F053EAB30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94" y="4823148"/>
            <a:ext cx="7801194" cy="2003719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89DC41DC-9320-0757-1EAC-CA9C2F4BD88E}"/>
              </a:ext>
            </a:extLst>
          </p:cNvPr>
          <p:cNvSpPr txBox="1"/>
          <p:nvPr/>
        </p:nvSpPr>
        <p:spPr>
          <a:xfrm>
            <a:off x="973394" y="7185940"/>
            <a:ext cx="314756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Quando usar:</a:t>
            </a:r>
          </a:p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F938B5D-557D-B40A-9B47-5C98339554CB}"/>
              </a:ext>
            </a:extLst>
          </p:cNvPr>
          <p:cNvSpPr txBox="1"/>
          <p:nvPr/>
        </p:nvSpPr>
        <p:spPr>
          <a:xfrm>
            <a:off x="973394" y="7863072"/>
            <a:ext cx="55915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Quando quiser definir um estilo base para todos os parágrafos de um site, sem precisar adicionar classes.</a:t>
            </a:r>
          </a:p>
          <a:p>
            <a:endParaRPr lang="pt-BR" dirty="0"/>
          </a:p>
        </p:txBody>
      </p:sp>
      <p:pic>
        <p:nvPicPr>
          <p:cNvPr id="16" name="Imagem 15" descr="Interface gráfica do usuário, Texto, Aplicativo">
            <a:extLst>
              <a:ext uri="{FF2B5EF4-FFF2-40B4-BE49-F238E27FC236}">
                <a16:creationId xmlns:a16="http://schemas.microsoft.com/office/drawing/2014/main" id="{5D9C164E-0B7E-01E4-F1B3-D91ABB223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94" y="9944183"/>
            <a:ext cx="7801194" cy="2332495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51B54347-9E6F-FF3A-DF1E-BC99971A934B}"/>
              </a:ext>
            </a:extLst>
          </p:cNvPr>
          <p:cNvSpPr txBox="1"/>
          <p:nvPr/>
        </p:nvSpPr>
        <p:spPr>
          <a:xfrm>
            <a:off x="973394" y="9548112"/>
            <a:ext cx="23208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EXEMPLO REAL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0662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6F589-0832-A099-AA00-691FEC029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85D12-B6F0-BF6E-F299-AD9CEB2717F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601200" cy="128016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pt-BR" sz="66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EFCFBA"/>
                </a:highligh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SELETOR DE CLASSE</a:t>
            </a:r>
            <a:br>
              <a:rPr kumimoji="0" lang="pt-BR" sz="66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EFCFBA"/>
                </a:highligh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</a:br>
            <a:r>
              <a:rPr kumimoji="0" lang="pt-BR" sz="66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EFCFBA"/>
                </a:highligh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Estilo reaproveitável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E876B99-2B5A-8891-EFC0-BFD5081D62D2}"/>
              </a:ext>
            </a:extLst>
          </p:cNvPr>
          <p:cNvSpPr txBox="1"/>
          <p:nvPr/>
        </p:nvSpPr>
        <p:spPr>
          <a:xfrm>
            <a:off x="1383404" y="-418703"/>
            <a:ext cx="6548022" cy="1289583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40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Impact" panose="020B0806030902050204" pitchFamily="34" charset="0"/>
              </a:rPr>
              <a:t>02</a:t>
            </a:r>
          </a:p>
          <a:p>
            <a:pPr algn="ctr"/>
            <a:endParaRPr lang="pt-BR" sz="41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EB5F5C-5E8D-07E6-04DB-7ECA86772815}"/>
              </a:ext>
            </a:extLst>
          </p:cNvPr>
          <p:cNvSpPr txBox="1"/>
          <p:nvPr/>
        </p:nvSpPr>
        <p:spPr>
          <a:xfrm>
            <a:off x="1669774" y="862716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</a:t>
            </a:r>
          </a:p>
        </p:txBody>
      </p:sp>
    </p:spTree>
    <p:extLst>
      <p:ext uri="{BB962C8B-B14F-4D97-AF65-F5344CB8AC3E}">
        <p14:creationId xmlns:p14="http://schemas.microsoft.com/office/powerpoint/2010/main" val="1132076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F8952-9A91-53B5-AF45-71E34E6D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7E150AF-9438-0B7B-9120-8FED06881C50}"/>
              </a:ext>
            </a:extLst>
          </p:cNvPr>
          <p:cNvSpPr txBox="1"/>
          <p:nvPr/>
        </p:nvSpPr>
        <p:spPr>
          <a:xfrm>
            <a:off x="2886454" y="818738"/>
            <a:ext cx="382829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Seletor de classe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DD34920-4883-744C-8016-C7FB89E50933}"/>
              </a:ext>
            </a:extLst>
          </p:cNvPr>
          <p:cNvSpPr txBox="1"/>
          <p:nvPr/>
        </p:nvSpPr>
        <p:spPr>
          <a:xfrm>
            <a:off x="1332856" y="1907509"/>
            <a:ext cx="69354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Estilo reaproveitável em vários lugares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65B5CE-F540-5A58-C9F9-4E8A41A4BAEA}"/>
              </a:ext>
            </a:extLst>
          </p:cNvPr>
          <p:cNvSpPr txBox="1"/>
          <p:nvPr/>
        </p:nvSpPr>
        <p:spPr>
          <a:xfrm>
            <a:off x="846099" y="2808476"/>
            <a:ext cx="8755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Classes são ideais quando você quer aplicar o mesmo estilo a diversos elementos, mas não quer que isso afete todos os elementos de uma </a:t>
            </a:r>
            <a:r>
              <a:rPr lang="pt-BR" sz="2400" dirty="0" err="1"/>
              <a:t>tag</a:t>
            </a:r>
            <a:r>
              <a:rPr lang="pt-BR" sz="2400" dirty="0"/>
              <a:t>.</a:t>
            </a:r>
          </a:p>
        </p:txBody>
      </p:sp>
      <p:pic>
        <p:nvPicPr>
          <p:cNvPr id="7" name="Imagem 6" descr="Interface gráfica do usuário, Texto">
            <a:extLst>
              <a:ext uri="{FF2B5EF4-FFF2-40B4-BE49-F238E27FC236}">
                <a16:creationId xmlns:a16="http://schemas.microsoft.com/office/drawing/2014/main" id="{E8F05814-0267-C397-7E95-57A3CED00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99" y="4324997"/>
            <a:ext cx="8251009" cy="273762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5242581-158A-778E-7B0F-5DE89A7669D8}"/>
              </a:ext>
            </a:extLst>
          </p:cNvPr>
          <p:cNvSpPr txBox="1"/>
          <p:nvPr/>
        </p:nvSpPr>
        <p:spPr>
          <a:xfrm>
            <a:off x="825230" y="7378817"/>
            <a:ext cx="764344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 dirty="0"/>
              <a:t>Quando usar:</a:t>
            </a:r>
          </a:p>
          <a:p>
            <a:pPr>
              <a:buNone/>
            </a:pPr>
            <a:r>
              <a:rPr lang="pt-BR" sz="2400" dirty="0"/>
              <a:t>Quando quiser destacar avisos, cartões, blocos de texto ou qualquer grupo de elementos que compartilhem um mesmo estilo visual.</a:t>
            </a:r>
          </a:p>
          <a:p>
            <a:pPr>
              <a:buNone/>
            </a:pPr>
            <a:endParaRPr lang="pt-BR" sz="2400" dirty="0"/>
          </a:p>
          <a:p>
            <a:pPr>
              <a:buNone/>
            </a:pPr>
            <a:endParaRPr lang="pt-BR" sz="2400" dirty="0"/>
          </a:p>
          <a:p>
            <a:r>
              <a:rPr lang="pt-BR" b="1" dirty="0"/>
              <a:t>Ex</a:t>
            </a:r>
            <a:r>
              <a:rPr lang="pt-BR" sz="2400" b="1" dirty="0"/>
              <a:t>emplo real:</a:t>
            </a:r>
          </a:p>
          <a:p>
            <a:endParaRPr lang="pt-BR" dirty="0"/>
          </a:p>
        </p:txBody>
      </p:sp>
      <p:pic>
        <p:nvPicPr>
          <p:cNvPr id="11" name="Imagem 10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FB4BA8C2-9BA2-96E0-C40A-844CFFA7E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30" y="10024846"/>
            <a:ext cx="8271878" cy="173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54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2ADDA-88C6-ED0B-2B8B-5936DB72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D180A-3A68-4506-D2A9-D406C8615AF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601200" cy="128016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pt-BR" sz="66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EFCFBA"/>
                </a:highligh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SELETOR DE ID</a:t>
            </a:r>
            <a:br>
              <a:rPr kumimoji="0" lang="pt-BR" sz="66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EFCFBA"/>
                </a:highligh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</a:br>
            <a:r>
              <a:rPr kumimoji="0" lang="pt-BR" sz="6600" b="0" i="0" u="none" strike="noStrike" kern="1200" cap="none" spc="0" normalizeH="0" baseline="0" noProof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EFCFBA"/>
                </a:highligh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Estilo único para elementos únicos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0674F69-F2C7-3CC0-F229-DC65D677146B}"/>
              </a:ext>
            </a:extLst>
          </p:cNvPr>
          <p:cNvSpPr txBox="1"/>
          <p:nvPr/>
        </p:nvSpPr>
        <p:spPr>
          <a:xfrm>
            <a:off x="1526589" y="-536690"/>
            <a:ext cx="6548022" cy="1289583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40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Impact" panose="020B0806030902050204" pitchFamily="34" charset="0"/>
              </a:rPr>
              <a:t>03</a:t>
            </a:r>
          </a:p>
          <a:p>
            <a:pPr algn="ctr"/>
            <a:endParaRPr lang="pt-BR" sz="41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5291341-EA92-16F2-AA1B-02D1971CA158}"/>
              </a:ext>
            </a:extLst>
          </p:cNvPr>
          <p:cNvSpPr txBox="1"/>
          <p:nvPr/>
        </p:nvSpPr>
        <p:spPr>
          <a:xfrm>
            <a:off x="1669774" y="862716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</a:t>
            </a:r>
          </a:p>
        </p:txBody>
      </p:sp>
    </p:spTree>
    <p:extLst>
      <p:ext uri="{BB962C8B-B14F-4D97-AF65-F5344CB8AC3E}">
        <p14:creationId xmlns:p14="http://schemas.microsoft.com/office/powerpoint/2010/main" val="2896945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006D5B7-A5CA-5284-45DB-930AAC0A6363}"/>
              </a:ext>
            </a:extLst>
          </p:cNvPr>
          <p:cNvSpPr txBox="1"/>
          <p:nvPr/>
        </p:nvSpPr>
        <p:spPr>
          <a:xfrm>
            <a:off x="3131074" y="718457"/>
            <a:ext cx="286007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Seletor de ID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36C1268-C70F-3577-5B64-6661A5D6D19A}"/>
              </a:ext>
            </a:extLst>
          </p:cNvPr>
          <p:cNvSpPr txBox="1"/>
          <p:nvPr/>
        </p:nvSpPr>
        <p:spPr>
          <a:xfrm>
            <a:off x="1613990" y="1703342"/>
            <a:ext cx="63732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Estilo único para elementos únicos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39FEE92-FC2E-7553-B5A1-34E260BF8323}"/>
              </a:ext>
            </a:extLst>
          </p:cNvPr>
          <p:cNvSpPr txBox="1"/>
          <p:nvPr/>
        </p:nvSpPr>
        <p:spPr>
          <a:xfrm>
            <a:off x="652240" y="2719078"/>
            <a:ext cx="8726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ID’S são usados quando um elemento é único na página (como um cabeçalho principal Ou uma seção específica). Eles são precedidos por # no CSS.</a:t>
            </a:r>
          </a:p>
        </p:txBody>
      </p:sp>
      <p:pic>
        <p:nvPicPr>
          <p:cNvPr id="12" name="Imagem 11" descr="Interface gráfica do usuário, Texto, Aplicativo">
            <a:extLst>
              <a:ext uri="{FF2B5EF4-FFF2-40B4-BE49-F238E27FC236}">
                <a16:creationId xmlns:a16="http://schemas.microsoft.com/office/drawing/2014/main" id="{1EA2D57E-DE2A-6EFF-B20C-C17CB6063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62" y="4064851"/>
            <a:ext cx="7831015" cy="268764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557BDB06-08E7-533E-D815-40C60FAE1EC2}"/>
              </a:ext>
            </a:extLst>
          </p:cNvPr>
          <p:cNvSpPr txBox="1"/>
          <p:nvPr/>
        </p:nvSpPr>
        <p:spPr>
          <a:xfrm>
            <a:off x="762237" y="7328874"/>
            <a:ext cx="83136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BR" sz="2400" b="1" dirty="0"/>
              <a:t>Quando usar:</a:t>
            </a:r>
          </a:p>
          <a:p>
            <a:r>
              <a:rPr lang="pt-BR" sz="2400" dirty="0"/>
              <a:t>Quando precisa de um estilo exclusivo para um elemento específico, como o menu principal ou rodapé.</a:t>
            </a:r>
          </a:p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4DBFFFE-E36D-C71E-0998-3D850A83887B}"/>
              </a:ext>
            </a:extLst>
          </p:cNvPr>
          <p:cNvSpPr txBox="1"/>
          <p:nvPr/>
        </p:nvSpPr>
        <p:spPr>
          <a:xfrm>
            <a:off x="762237" y="8814298"/>
            <a:ext cx="2100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Exemplo real:</a:t>
            </a:r>
          </a:p>
        </p:txBody>
      </p:sp>
      <p:pic>
        <p:nvPicPr>
          <p:cNvPr id="16" name="Imagem 15" descr="Uma imagem contendo Diagrama">
            <a:extLst>
              <a:ext uri="{FF2B5EF4-FFF2-40B4-BE49-F238E27FC236}">
                <a16:creationId xmlns:a16="http://schemas.microsoft.com/office/drawing/2014/main" id="{AC8D0D4B-4503-00AB-EBCA-77C8E328F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62" y="9245259"/>
            <a:ext cx="7831015" cy="309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01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8502B0C-BB22-CD33-1B7F-7EE3EB47D805}"/>
              </a:ext>
            </a:extLst>
          </p:cNvPr>
          <p:cNvSpPr txBox="1"/>
          <p:nvPr/>
        </p:nvSpPr>
        <p:spPr>
          <a:xfrm>
            <a:off x="1828799" y="1021809"/>
            <a:ext cx="66821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Impact" panose="020B0806030902050204" pitchFamily="34" charset="0"/>
              </a:rPr>
              <a:t>OBRIGADA POR LER ATÉ AQUI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FAF6C0-6BB9-8768-8682-45A543E65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08" y="2144808"/>
            <a:ext cx="8780584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"Dominar o CSS é como aprender a pintar a web: cada seletor é um pincel que dá vida às suas ideias.“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Continue praticando — a fluidez virá com o tempo e o esforço!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8EA506-4A6F-E955-1744-80CF4F3C1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6012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7CD1320-9AF7-529B-96A2-1EB69F9BB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349" y="8652195"/>
            <a:ext cx="905305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📘 </a:t>
            </a: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Mais uma vez, obrigado por sua leitura!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este conteúdo te ajudou, compartilhe com outros              desenvolvedores e nunca pare de evoluir</a:t>
            </a:r>
          </a:p>
        </p:txBody>
      </p:sp>
      <p:pic>
        <p:nvPicPr>
          <p:cNvPr id="8" name="Imagem 7" descr="Homem sentado em cadeira&#10;&#10;O conteúdo gerado por IA pode estar incorreto.">
            <a:extLst>
              <a:ext uri="{FF2B5EF4-FFF2-40B4-BE49-F238E27FC236}">
                <a16:creationId xmlns:a16="http://schemas.microsoft.com/office/drawing/2014/main" id="{0B394FC9-4B3E-E4DC-3B88-21526694E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431" y="4775912"/>
            <a:ext cx="5216769" cy="334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242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1418</TotalTime>
  <Words>388</Words>
  <Application>Microsoft Office PowerPoint</Application>
  <PresentationFormat>Papel A3 (297 x 420 mm)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Aptos Narrow</vt:lpstr>
      <vt:lpstr>Arial</vt:lpstr>
      <vt:lpstr>Impact</vt:lpstr>
      <vt:lpstr>Tema do Office</vt:lpstr>
      <vt:lpstr>Apresentação do PowerPoint</vt:lpstr>
      <vt:lpstr>Apresentação do PowerPoint</vt:lpstr>
      <vt:lpstr>SELETORES DE ELEMENTOS Estilizando tags </vt:lpstr>
      <vt:lpstr>Apresentação do PowerPoint</vt:lpstr>
      <vt:lpstr>SELETOR DE CLASSE Estilo reaproveitável</vt:lpstr>
      <vt:lpstr>Apresentação do PowerPoint</vt:lpstr>
      <vt:lpstr>SELETOR DE ID Estilo único para elementos únicos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freitasbianca949@gmail.com</dc:creator>
  <cp:lastModifiedBy>freitasbianca949@gmail.com</cp:lastModifiedBy>
  <cp:revision>2</cp:revision>
  <dcterms:created xsi:type="dcterms:W3CDTF">2025-05-02T20:27:30Z</dcterms:created>
  <dcterms:modified xsi:type="dcterms:W3CDTF">2025-05-03T20:05:40Z</dcterms:modified>
</cp:coreProperties>
</file>